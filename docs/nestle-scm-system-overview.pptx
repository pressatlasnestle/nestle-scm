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Ocean freight media intelligence platform built for the Nestlé AOA supply chain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predecessor series lapsed because every edition was a fresh authoring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functions. The first three feed the fourth.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independently resumable — a stage that stops mid-way keeps what it has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gates plus an exclusion list. Both gates must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definition is what keeps the grading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two axes apart is what prevents everything bad looking equally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Entered via a weekly grid or a CSV template. Published values are stored as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sent, an edition is frozen so it stays a true record of what was received.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division. Nothing publishes without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read from the live database on the date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operating change rather than the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017520"/>
            <a:ext cx="2377440" cy="2377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8132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Ocean Freight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E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Intelligence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614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market and news monitoring for Nestlé supply chain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numiVeda Solutions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exists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update that people relied on, and that stopped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ocean freight update ran from April 2025 to March 2026. It was compiled by hand — reading dashboards, copying figures, picking articles — and it lapsed.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it was wrong. It simply cost more time each month than anyone had.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removes the assembly work, not the judgement.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32120" y="1371600"/>
            <a:ext cx="3108960" cy="2651760"/>
          </a:xfrm>
          <a:prstGeom prst="roundRect">
            <a:avLst>
              <a:gd name="adj" fmla="val 241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5361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715000" y="2066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editions published before it stopped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25420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715000" y="30540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subject lines across those editions — the format drifted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jobs, running continuously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6362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news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shipping media, news alerts and aggregators around the clock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44144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3584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grades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865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is genuinely about ocean freight, then how much it matters to Nestlé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45536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31927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43584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market figures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2644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waiting times, fleet status and schedule reliability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138160" cy="731520"/>
          </a:xfrm>
          <a:prstGeom prst="roundRect">
            <a:avLst>
              <a:gd name="adj" fmla="val 8750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419709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4123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newsletter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1422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every section from the week's own data, ready to edit and send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article travels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one able to stop and resume without losing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481328" cy="2011680"/>
          </a:xfrm>
          <a:prstGeom prst="roundRect">
            <a:avLst>
              <a:gd name="adj" fmla="val 432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10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" y="2706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feeds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alerts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235915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76272" y="1554480"/>
            <a:ext cx="1481328" cy="2011680"/>
          </a:xfrm>
          <a:prstGeom prst="roundRect">
            <a:avLst>
              <a:gd name="adj" fmla="val 432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810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31136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31136" y="2706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beat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235915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849624" y="1554480"/>
            <a:ext cx="1481328" cy="2011680"/>
          </a:xfrm>
          <a:prstGeom prst="roundRect">
            <a:avLst>
              <a:gd name="adj" fmla="val 432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81051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04488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4488" y="2706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12664" y="235915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22976" y="1554480"/>
            <a:ext cx="1481328" cy="2011680"/>
          </a:xfrm>
          <a:prstGeom prst="roundRect">
            <a:avLst>
              <a:gd name="adj" fmla="val 4321"/>
            </a:avLst>
          </a:prstGeom>
          <a:solidFill>
            <a:srgbClr val="E3EEF5"/>
          </a:solidFill>
          <a:ln w="12700">
            <a:solidFill>
              <a:srgbClr val="E3EE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8105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706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freight?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6016" y="235915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196328" y="1554480"/>
            <a:ext cx="1481328" cy="2011680"/>
          </a:xfrm>
          <a:prstGeom prst="roundRect">
            <a:avLst>
              <a:gd name="adj" fmla="val 4321"/>
            </a:avLst>
          </a:prstGeom>
          <a:solidFill>
            <a:srgbClr val="E3EEF5"/>
          </a:solidFill>
          <a:ln w="12700">
            <a:solidFill>
              <a:srgbClr val="E3EE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44968" y="18105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51192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51192" y="27066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to Nestlé?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9136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 run twice a day.  Stage 4 runs every hour.  Stage 5 is started by a person, because it is the only stage that costs money per article.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in, and what does not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the feeds carry is not ocean freight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must clear two tests before it is stored at all: it has to name the industry, and it has to be about a topic we track. Failing either means it is never saved.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list suppresses look-alikes — software containers, shipping containers as houses, fandom "shipping", port wine, terminal illness.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371600"/>
            <a:ext cx="3749040" cy="786384"/>
          </a:xfrm>
          <a:prstGeom prst="roundRect">
            <a:avLst>
              <a:gd name="adj" fmla="val 814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4904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35040" y="1609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that name the industry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2304288"/>
            <a:ext cx="3749040" cy="786384"/>
          </a:xfrm>
          <a:prstGeom prst="roundRect">
            <a:avLst>
              <a:gd name="adj" fmla="val 814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5040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 track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3236976"/>
            <a:ext cx="3749040" cy="786384"/>
          </a:xfrm>
          <a:prstGeom prst="roundRect">
            <a:avLst>
              <a:gd name="adj" fmla="val 814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33558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8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look-alikes to suppress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4224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tracked terms in total, maintained in the admin panel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4124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article is measured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one question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49240" y="1060704"/>
            <a:ext cx="3291840" cy="2926080"/>
          </a:xfrm>
          <a:prstGeom prst="roundRect">
            <a:avLst>
              <a:gd name="adj" fmla="val 2188"/>
            </a:avLst>
          </a:prstGeom>
          <a:solidFill>
            <a:srgbClr val="0A4D6E"/>
          </a:solidFill>
          <a:ln w="12700">
            <a:solidFill>
              <a:srgbClr val="0A4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0" y="1316736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event make Nestlé's container movement through Asia, Oceania and Africa harder, slower, less predictable or more expensive — or easier, faster, more predictable or cheaper?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77840" y="3200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whether the news sounds positive.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whether it is good for the carrier, the port or the industry.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winning an award, a carrier being fined, a crane arriving at a European port — none of these move a Nestlé box. They are graded neutral, however loud the coverage.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and size are separate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can matter enormously and still have no clear direction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2377440"/>
          </a:xfrm>
          <a:prstGeom prst="roundRect">
            <a:avLst>
              <a:gd name="adj" fmla="val 2692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unfavourable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Unfavourable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71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favourable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77640" cy="2377440"/>
          </a:xfrm>
          <a:prstGeom prst="roundRect">
            <a:avLst>
              <a:gd name="adj" fmla="val 2692"/>
            </a:avLst>
          </a:prstGeom>
          <a:solidFill>
            <a:srgbClr val="E3EEF5"/>
          </a:solidFill>
          <a:ln w="12700">
            <a:solidFill>
              <a:srgbClr val="E3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83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disrupted right now, at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128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231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cost or reliability change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5420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2560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effect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8712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2889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not change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3218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bearing on our containers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87705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merger enquiry covering a tenth of Asia–Europe capacity is neutral in direction and large in size — the stakes are real, the outcome is genuinely unresolved.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figures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by hand from the commercial dashboards, never scraped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133856"/>
          </a:xfrm>
          <a:prstGeom prst="roundRect">
            <a:avLst>
              <a:gd name="adj" fmla="val 564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536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" y="1865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and TEU waiting, by region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1133856"/>
          </a:xfrm>
          <a:prstGeom prst="roundRect">
            <a:avLst>
              <a:gd name="adj" fmla="val 5645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detail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536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82896" y="1865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Anchorage and berth, five tracked 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3977640" cy="1133856"/>
          </a:xfrm>
          <a:prstGeom prst="roundRect">
            <a:avLst>
              <a:gd name="adj" fmla="val 5645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3163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at port, at anchorage, active, idle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70048"/>
            <a:ext cx="3977640" cy="1133856"/>
          </a:xfrm>
          <a:prstGeom prst="roundRect">
            <a:avLst>
              <a:gd name="adj" fmla="val 5645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reliability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8346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82896" y="3163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on-time performance, by alliance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nobody entered is left blank, never shown as zero — there is no such thing as a day with no congestion, and a chart of zeros would say something untrue about the market.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weekly newsletter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by the system, edited by a person, sent by Outlook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356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4447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week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44475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week still running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185416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194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written from that week's own figures and articles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93522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29443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94436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section, in a plain text box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685032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36941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69417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Outlook — the edition is then locked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537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with no data behind them do not appear at all — no empty headings, no blank charts.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automatic, what is not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 the assembly; the judgement stays with the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127248"/>
          </a:xfrm>
          <a:prstGeom prst="roundRect">
            <a:avLst>
              <a:gd name="adj" fmla="val 2047"/>
            </a:avLst>
          </a:prstGeom>
          <a:solidFill>
            <a:srgbClr val="E3EEF5"/>
          </a:solidFill>
          <a:ln w="12700">
            <a:solidFill>
              <a:srgbClr val="E3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news, twice a 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323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it every hour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895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impact and writes summaries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every newsletter section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039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record of who changed what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77640" cy="3127248"/>
          </a:xfrm>
          <a:prstGeom prst="roundRect">
            <a:avLst>
              <a:gd name="adj" fmla="val 2047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751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market figures each week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4323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grading run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895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any section that needs 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3467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which articles appear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8039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to send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7782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from the platform, 16 August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captured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002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graded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6002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7220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sources tracked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17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5800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in the register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017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9000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834640"/>
            <a:ext cx="2560320" cy="1207008"/>
          </a:xfrm>
          <a:prstGeom prst="roundRect">
            <a:avLst>
              <a:gd name="adj" fmla="val 5303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01752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72200" y="36210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5254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grows twice daily and is screened every hour.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743200"/>
            <a:ext cx="3474720" cy="34747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0" y="113385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the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0" y="19751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comes 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22677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fixed weekly rhythm rather than when time allows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27249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is already done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30175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articles screened and graded, not a folder of links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34747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judgement stays yours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3767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editable, nothing sends itself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44074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numiVeda Solutions (OPC) Pvt Ltd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2026-08-16T07:54:31Z</dcterms:created>
  <dcterms:modified xsi:type="dcterms:W3CDTF">2026-08-16T07:54:31Z</dcterms:modified>
</cp:coreProperties>
</file>